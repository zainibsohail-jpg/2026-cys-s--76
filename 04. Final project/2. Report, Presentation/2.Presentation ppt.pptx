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rimson Pro Bold" panose="020B0604020202020204" charset="0"/>
      <p:regular r:id="rId13"/>
    </p:embeddedFon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Open Sans" panose="020B0604020202020204" charset="0"/>
      <p:regular r:id="rId18"/>
    </p:embeddedFont>
    <p:embeddedFont>
      <p:font typeface="Open Sans Bold" panose="020B0604020202020204" charset="0"/>
      <p:regular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4C3D"/>
    <a:srgbClr val="FFFC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60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4771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png"/><Relationship Id="rId7" Type="http://schemas.openxmlformats.org/officeDocument/2006/relationships/image" Target="../media/image-3-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3-5.svg"/><Relationship Id="rId5" Type="http://schemas.openxmlformats.org/officeDocument/2006/relationships/image" Target="../media/image-3-3.svg"/><Relationship Id="rId4" Type="http://schemas.openxmlformats.org/officeDocument/2006/relationships/image" Target="../media/image4.png"/><Relationship Id="rId9" Type="http://schemas.openxmlformats.org/officeDocument/2006/relationships/image" Target="../media/image-3-9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9-6.svg"/><Relationship Id="rId5" Type="http://schemas.openxmlformats.org/officeDocument/2006/relationships/image" Target="../media/image-9-4.svg"/><Relationship Id="rId4" Type="http://schemas.openxmlformats.org/officeDocument/2006/relationships/image" Target="../media/image-9-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989398"/>
            <a:ext cx="2571546" cy="597255"/>
          </a:xfrm>
          <a:prstGeom prst="roundRect">
            <a:avLst>
              <a:gd name="adj" fmla="val 17872"/>
            </a:avLst>
          </a:prstGeom>
          <a:solidFill>
            <a:srgbClr val="EBE2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570533" y="1167404"/>
            <a:ext cx="1772692" cy="382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PROGRAMMING FUNDAMENTAL LAB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6119" y="1934840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Brew Haven: Café Management System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96119" y="2895972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simple desktop app made in Python 3 with PyQt5. It helps manage a café in real time.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Prepared and submitted by Zainab Sohail, Roll No. 76.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10982"/>
            <a:ext cx="255463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sz="2400" b="1" dirty="0"/>
              <a:t>System Overview</a:t>
            </a:r>
          </a:p>
        </p:txBody>
      </p:sp>
      <p:sp>
        <p:nvSpPr>
          <p:cNvPr id="3" name="Text 1"/>
          <p:cNvSpPr/>
          <p:nvPr/>
        </p:nvSpPr>
        <p:spPr>
          <a:xfrm>
            <a:off x="496119" y="1395283"/>
            <a:ext cx="560665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sz="2400" b="1" dirty="0"/>
              <a:t>Simple Desktop Design</a:t>
            </a:r>
          </a:p>
        </p:txBody>
      </p:sp>
      <p:sp>
        <p:nvSpPr>
          <p:cNvPr id="4" name="Text 2"/>
          <p:cNvSpPr/>
          <p:nvPr/>
        </p:nvSpPr>
        <p:spPr>
          <a:xfrm>
            <a:off x="496119" y="2081659"/>
            <a:ext cx="8151763" cy="933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sz="1400">
                <a:solidFill>
                  <a:srgbClr val="584C3D"/>
                </a:solidFill>
              </a:rPr>
              <a:t>The Brew Haven Cafe Management System helps run a café easily. It is made for the Programming Fundamental Lab project and keeps tasks organized.</a:t>
            </a:r>
          </a:p>
          <a:p>
            <a:r>
              <a:rPr sz="1400">
                <a:solidFill>
                  <a:srgbClr val="584C3D"/>
                </a:solidFill>
              </a:rPr>
              <a:t>The app separates the screen from background work so it stays fast, easy to use, and keeps data safe.</a:t>
            </a:r>
          </a:p>
        </p:txBody>
      </p:sp>
      <p:sp>
        <p:nvSpPr>
          <p:cNvPr id="5" name="Shape 3"/>
          <p:cNvSpPr/>
          <p:nvPr/>
        </p:nvSpPr>
        <p:spPr>
          <a:xfrm>
            <a:off x="496119" y="3154561"/>
            <a:ext cx="2634555" cy="724198"/>
          </a:xfrm>
          <a:prstGeom prst="roundRect">
            <a:avLst>
              <a:gd name="adj" fmla="val 7194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24855" y="328329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Async Signals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4855" y="3551560"/>
            <a:ext cx="237708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Quick updates without slowing the app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54648" y="3154561"/>
            <a:ext cx="2634630" cy="724198"/>
          </a:xfrm>
          <a:prstGeom prst="roundRect">
            <a:avLst>
              <a:gd name="adj" fmla="val 7194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383384" y="328329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Financial Logic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384" y="3551560"/>
            <a:ext cx="237715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Simple automatic calculations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13252" y="3154561"/>
            <a:ext cx="2634555" cy="724198"/>
          </a:xfrm>
          <a:prstGeom prst="roundRect">
            <a:avLst>
              <a:gd name="adj" fmla="val 7194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141988" y="328329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Safe DB Ops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41988" y="3551560"/>
            <a:ext cx="237708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Secure storage for records</a:t>
            </a:r>
            <a:endParaRPr lang="en-US" sz="1000" dirty="0"/>
          </a:p>
        </p:txBody>
      </p:sp>
      <p:sp>
        <p:nvSpPr>
          <p:cNvPr id="14" name="Rectangle 13"/>
          <p:cNvSpPr/>
          <p:nvPr/>
        </p:nvSpPr>
        <p:spPr>
          <a:xfrm>
            <a:off x="7747819" y="4852221"/>
            <a:ext cx="1396181" cy="226142"/>
          </a:xfrm>
          <a:prstGeom prst="rect">
            <a:avLst/>
          </a:prstGeom>
          <a:solidFill>
            <a:srgbClr val="FFFC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79140"/>
            <a:ext cx="2247826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b="1" dirty="0"/>
              <a:t>Project Structure</a:t>
            </a:r>
          </a:p>
        </p:txBody>
      </p:sp>
      <p:sp>
        <p:nvSpPr>
          <p:cNvPr id="4" name="Text 1"/>
          <p:cNvSpPr/>
          <p:nvPr/>
        </p:nvSpPr>
        <p:spPr>
          <a:xfrm>
            <a:off x="3925119" y="676499"/>
            <a:ext cx="4722763" cy="386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b="1" dirty="0"/>
              <a:t>Easy Structure and Safe Data</a:t>
            </a:r>
          </a:p>
        </p:txBody>
      </p:sp>
      <p:sp>
        <p:nvSpPr>
          <p:cNvPr id="5" name="Text 2"/>
          <p:cNvSpPr/>
          <p:nvPr/>
        </p:nvSpPr>
        <p:spPr>
          <a:xfrm>
            <a:off x="3925119" y="1211976"/>
            <a:ext cx="4722763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project focuses on clear structure, safe data handling, and keeping information steady. It helps users make choices, calculate taxes, and save data for later use.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012900"/>
            <a:ext cx="1499146" cy="159640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03775" y="2101528"/>
            <a:ext cx="141833" cy="1773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057576" y="2485802"/>
            <a:ext cx="1234232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Simple UI Control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057576" y="2738065"/>
            <a:ext cx="1234232" cy="554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Turns .ui files into Python code without layout problems</a:t>
            </a: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36927" y="2012900"/>
            <a:ext cx="1499146" cy="159640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15583" y="2101528"/>
            <a:ext cx="141833" cy="1773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5669384" y="2485802"/>
            <a:ext cx="1234232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Money Calculations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5669384" y="2922761"/>
            <a:ext cx="1234232" cy="554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Handles real-time changes based on user choices.</a:t>
            </a: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48736" y="2012900"/>
            <a:ext cx="1499146" cy="159640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827392" y="2101528"/>
            <a:ext cx="141833" cy="1773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7281193" y="2485802"/>
            <a:ext cx="1234232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Saved Data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7281193" y="2738065"/>
            <a:ext cx="1234232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Stores sales records safely in local files.</a:t>
            </a:r>
            <a:endParaRPr lang="en-US" sz="10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5119" y="3721968"/>
            <a:ext cx="4722763" cy="104231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215583" y="3810595"/>
            <a:ext cx="141833" cy="1773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4057576" y="4194870"/>
            <a:ext cx="147786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Live Progress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4057576" y="4447133"/>
            <a:ext cx="4457849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Uses timers to show smooth, non-blocking updates.</a:t>
            </a:r>
            <a:endParaRPr lang="en-US" sz="1000" dirty="0"/>
          </a:p>
        </p:txBody>
      </p:sp>
      <p:sp>
        <p:nvSpPr>
          <p:cNvPr id="22" name="Rectangle 21"/>
          <p:cNvSpPr/>
          <p:nvPr/>
        </p:nvSpPr>
        <p:spPr>
          <a:xfrm>
            <a:off x="7747819" y="4862053"/>
            <a:ext cx="1396181" cy="226142"/>
          </a:xfrm>
          <a:prstGeom prst="rect">
            <a:avLst/>
          </a:prstGeom>
          <a:solidFill>
            <a:srgbClr val="FFFC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4730"/>
            <a:ext cx="322413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sz="2000" b="1" dirty="0"/>
              <a:t>Screen Layout and Logic</a:t>
            </a:r>
          </a:p>
        </p:txBody>
      </p:sp>
      <p:sp>
        <p:nvSpPr>
          <p:cNvPr id="3" name="Text 1"/>
          <p:cNvSpPr/>
          <p:nvPr/>
        </p:nvSpPr>
        <p:spPr>
          <a:xfrm>
            <a:off x="496119" y="977131"/>
            <a:ext cx="393174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sz="2000" b="1"/>
              <a:t>Five Simple Screens</a:t>
            </a:r>
          </a:p>
        </p:txBody>
      </p:sp>
      <p:sp>
        <p:nvSpPr>
          <p:cNvPr id="4" name="Text 2"/>
          <p:cNvSpPr/>
          <p:nvPr/>
        </p:nvSpPr>
        <p:spPr>
          <a:xfrm>
            <a:off x="496119" y="1461158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Brew Haven keeps the app's screen layout separate from its data. The app uses one main window and moves through 5 simple screens in order.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3248471"/>
            <a:ext cx="8151763" cy="14288"/>
          </a:xfrm>
          <a:prstGeom prst="roundRect">
            <a:avLst>
              <a:gd name="adj" fmla="val 364638"/>
            </a:avLst>
          </a:prstGeom>
          <a:solidFill>
            <a:srgbClr val="D1C8C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795909" y="2876401"/>
            <a:ext cx="14288" cy="372070"/>
          </a:xfrm>
          <a:prstGeom prst="roundRect">
            <a:avLst>
              <a:gd name="adj" fmla="val 364638"/>
            </a:avLst>
          </a:prstGeom>
          <a:solidFill>
            <a:srgbClr val="D1C8C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663526" y="3108945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710035" y="3132200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27733" y="2087166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Index 0 — Welcome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0092" y="2355428"/>
            <a:ext cx="2365921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Shows the brand, basic info, and a button to get started.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80308" y="3248471"/>
            <a:ext cx="14288" cy="372070"/>
          </a:xfrm>
          <a:prstGeom prst="roundRect">
            <a:avLst>
              <a:gd name="adj" fmla="val 364638"/>
            </a:avLst>
          </a:prstGeom>
          <a:solidFill>
            <a:srgbClr val="D1C8C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047926" y="3108945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094434" y="3132200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412206" y="374459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Index 1 — Menu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04492" y="4012853"/>
            <a:ext cx="23659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Shows the menu, prices, and buttons to adjust items.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64782" y="2876401"/>
            <a:ext cx="14288" cy="372070"/>
          </a:xfrm>
          <a:prstGeom prst="roundRect">
            <a:avLst>
              <a:gd name="adj" fmla="val 364638"/>
            </a:avLst>
          </a:prstGeom>
          <a:solidFill>
            <a:srgbClr val="D1C8C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432399" y="3108945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478908" y="3132200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796680" y="2087166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Index 2 — Order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88965" y="2355428"/>
            <a:ext cx="23659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Shows the current order and suggests extra items.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9255" y="3248471"/>
            <a:ext cx="14288" cy="372070"/>
          </a:xfrm>
          <a:prstGeom prst="roundRect">
            <a:avLst>
              <a:gd name="adj" fmla="val 364638"/>
            </a:avLst>
          </a:prstGeom>
          <a:solidFill>
            <a:srgbClr val="D1C8C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5816873" y="3108945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863382" y="3132200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4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181154" y="374459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Index 3 — Bill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73439" y="4012853"/>
            <a:ext cx="23659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Shows the bill with the total, tax, and service fee.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333729" y="2876401"/>
            <a:ext cx="14288" cy="372070"/>
          </a:xfrm>
          <a:prstGeom prst="roundRect">
            <a:avLst>
              <a:gd name="adj" fmla="val 364638"/>
            </a:avLst>
          </a:prstGeom>
          <a:solidFill>
            <a:srgbClr val="D1C8C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7201346" y="3108945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7247855" y="3132200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5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565627" y="2087166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Index 4 — Countdown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157913" y="2355428"/>
            <a:ext cx="23659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Shows a live countdown and order status updates.</a:t>
            </a:r>
            <a:endParaRPr lang="en-US" sz="950" dirty="0"/>
          </a:p>
        </p:txBody>
      </p:sp>
      <p:sp>
        <p:nvSpPr>
          <p:cNvPr id="31" name="Rectangle 30"/>
          <p:cNvSpPr/>
          <p:nvPr/>
        </p:nvSpPr>
        <p:spPr>
          <a:xfrm>
            <a:off x="7747819" y="4852221"/>
            <a:ext cx="1396181" cy="226142"/>
          </a:xfrm>
          <a:prstGeom prst="rect">
            <a:avLst/>
          </a:prstGeom>
          <a:solidFill>
            <a:srgbClr val="FFFC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87623"/>
            <a:ext cx="19835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sz="2000" b="1" dirty="0"/>
              <a:t>System Flow</a:t>
            </a:r>
          </a:p>
        </p:txBody>
      </p:sp>
      <p:sp>
        <p:nvSpPr>
          <p:cNvPr id="4" name="Text 1"/>
          <p:cNvSpPr/>
          <p:nvPr/>
        </p:nvSpPr>
        <p:spPr>
          <a:xfrm>
            <a:off x="496119" y="700877"/>
            <a:ext cx="4722763" cy="361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sz="2000" b="1" dirty="0"/>
              <a:t>How Information Moves</a:t>
            </a:r>
          </a:p>
        </p:txBody>
      </p:sp>
      <p:sp>
        <p:nvSpPr>
          <p:cNvPr id="5" name="Text 2"/>
          <p:cNvSpPr/>
          <p:nvPr/>
        </p:nvSpPr>
        <p:spPr>
          <a:xfrm>
            <a:off x="496119" y="1282507"/>
            <a:ext cx="4722763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diagram shows how the app moves through five steps: welcome, menu, order, billing, and finish. It also shows how each step keeps its own data clear and separate.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2241426"/>
            <a:ext cx="4722763" cy="20365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3912" y="3891781"/>
            <a:ext cx="1071436" cy="13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Bill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813912" y="3420350"/>
            <a:ext cx="1071436" cy="133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Check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13912" y="2953680"/>
            <a:ext cx="1071436" cy="133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Menu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13912" y="2482248"/>
            <a:ext cx="1071436" cy="133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Welcome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96119" y="4413200"/>
            <a:ext cx="472276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step passes data along in a clean way, so one part does not mix up with another.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34690"/>
            <a:ext cx="213322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sz="2000" b="1" dirty="0"/>
              <a:t>Pricing and Totals</a:t>
            </a:r>
          </a:p>
        </p:txBody>
      </p:sp>
      <p:sp>
        <p:nvSpPr>
          <p:cNvPr id="3" name="Text 1"/>
          <p:cNvSpPr/>
          <p:nvPr/>
        </p:nvSpPr>
        <p:spPr>
          <a:xfrm>
            <a:off x="496119" y="1031156"/>
            <a:ext cx="391209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sz="2000" b="1" dirty="0"/>
              <a:t>Automatic Price Calculation</a:t>
            </a:r>
          </a:p>
        </p:txBody>
      </p:sp>
      <p:sp>
        <p:nvSpPr>
          <p:cNvPr id="4" name="Text 2"/>
          <p:cNvSpPr/>
          <p:nvPr/>
        </p:nvSpPr>
        <p:spPr>
          <a:xfrm>
            <a:off x="496119" y="1455977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system updates prices automatically. It adds tax and service fees using simple formulas.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06822" y="1839543"/>
            <a:ext cx="3680445" cy="2658769"/>
          </a:xfrm>
          <a:prstGeom prst="roundRect">
            <a:avLst>
              <a:gd name="adj" fmla="val 3701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30796" y="200709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Core </a:t>
            </a:r>
            <a:r>
              <a:rPr lang="en-US" sz="1600" b="1" dirty="0" smtClean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Formulas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1600" b="1" dirty="0">
              <a:solidFill>
                <a:srgbClr val="FFFFFF"/>
              </a:solidFill>
              <a:latin typeface="Crimson Pro Bold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30796" y="2384524"/>
            <a:ext cx="388969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Subtotal = item price × quantity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796" y="2753469"/>
            <a:ext cx="3432497" cy="14288"/>
          </a:xfrm>
          <a:prstGeom prst="roundRect">
            <a:avLst>
              <a:gd name="adj" fmla="val 59998"/>
            </a:avLst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30796" y="2938239"/>
            <a:ext cx="388969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Tax (5%) = subtotal × 0.05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0796" y="3307184"/>
            <a:ext cx="3432497" cy="14288"/>
          </a:xfrm>
          <a:prstGeom prst="roundRect">
            <a:avLst>
              <a:gd name="adj" fmla="val 59998"/>
            </a:avLst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30796" y="3491954"/>
            <a:ext cx="388969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Service fee (10%) = subtotal × 0.10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796" y="3860899"/>
            <a:ext cx="3432497" cy="14288"/>
          </a:xfrm>
          <a:prstGeom prst="roundRect">
            <a:avLst>
              <a:gd name="adj" fmla="val 59998"/>
            </a:avLst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30796" y="4045669"/>
            <a:ext cx="388969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Grand total = subtotal + tax + service fee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05300" y="2099667"/>
            <a:ext cx="4804470" cy="202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05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267" y="2121089"/>
            <a:ext cx="4347270" cy="20255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544467" y="2451449"/>
            <a:ext cx="3629332" cy="848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system adds 5% tax and a 10% service fee to the subtotal. It updates the total right away as items change.</a:t>
            </a:r>
            <a:endParaRPr lang="en-US" sz="1200" dirty="0"/>
          </a:p>
        </p:txBody>
      </p:sp>
      <p:sp>
        <p:nvSpPr>
          <p:cNvPr id="17" name="Rectangle 16"/>
          <p:cNvSpPr/>
          <p:nvPr/>
        </p:nvSpPr>
        <p:spPr>
          <a:xfrm>
            <a:off x="7747819" y="4852221"/>
            <a:ext cx="1396181" cy="226142"/>
          </a:xfrm>
          <a:prstGeom prst="rect">
            <a:avLst/>
          </a:prstGeom>
          <a:solidFill>
            <a:srgbClr val="FFFC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93549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sz="2000" b="1" dirty="0"/>
              <a:t>Database Design</a:t>
            </a:r>
          </a:p>
        </p:txBody>
      </p:sp>
      <p:sp>
        <p:nvSpPr>
          <p:cNvPr id="3" name="Text 1"/>
          <p:cNvSpPr/>
          <p:nvPr/>
        </p:nvSpPr>
        <p:spPr>
          <a:xfrm>
            <a:off x="496119" y="488937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sz="2000" b="1"/>
              <a:t>Using SQLite for Storage</a:t>
            </a:r>
          </a:p>
        </p:txBody>
      </p:sp>
      <p:sp>
        <p:nvSpPr>
          <p:cNvPr id="4" name="Text 2"/>
          <p:cNvSpPr/>
          <p:nvPr/>
        </p:nvSpPr>
        <p:spPr>
          <a:xfrm>
            <a:off x="496119" y="954532"/>
            <a:ext cx="8608963" cy="442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data is stored in SQLite, a simple built-in database. It helps avoid write delays and keeps data </a:t>
            </a:r>
            <a:r>
              <a:rPr lang="en-US" sz="1100" dirty="0" smtClean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safe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 smtClean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when many orders come in at once.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1502048"/>
            <a:ext cx="8151763" cy="3294311"/>
          </a:xfrm>
          <a:prstGeom prst="roundRect">
            <a:avLst>
              <a:gd name="adj" fmla="val 158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01030" y="1506810"/>
            <a:ext cx="1465585" cy="359197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25004" y="1585987"/>
            <a:ext cx="167245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Field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966615" y="1506810"/>
            <a:ext cx="1465585" cy="359197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092970" y="1585987"/>
            <a:ext cx="16700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Type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32200" y="1506810"/>
            <a:ext cx="1791221" cy="359197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558555" y="1585987"/>
            <a:ext cx="199571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Rules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223421" y="1506810"/>
            <a:ext cx="3419698" cy="359197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349776" y="1585987"/>
            <a:ext cx="362656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What it does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5004" y="1947565"/>
            <a:ext cx="167245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order_id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92970" y="1947565"/>
            <a:ext cx="16700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58555" y="1947565"/>
            <a:ext cx="1538511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PRIMARY KEY AUTOINCREMENT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49776" y="1947565"/>
            <a:ext cx="362656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Gives each order its own unique number.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5004" y="2507605"/>
            <a:ext cx="167245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timestamp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092970" y="2507605"/>
            <a:ext cx="16700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DATETIME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558555" y="2507605"/>
            <a:ext cx="1538511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DEFAULT CURRENT_TIMESTAMP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349776" y="2507605"/>
            <a:ext cx="362656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Saves the date and time of each order.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5004" y="3067645"/>
            <a:ext cx="167245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items_summary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092970" y="3067645"/>
            <a:ext cx="16700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TEXT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558555" y="3067645"/>
            <a:ext cx="199571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 NULL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349776" y="3067645"/>
            <a:ext cx="362656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Saves a short text list of the items.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5004" y="3429223"/>
            <a:ext cx="167245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subtotal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092970" y="3429223"/>
            <a:ext cx="16700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558555" y="3429223"/>
            <a:ext cx="199571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 NULL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349776" y="3429223"/>
            <a:ext cx="362656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Saves the total before tax.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5004" y="3790801"/>
            <a:ext cx="167245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tax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092970" y="3790801"/>
            <a:ext cx="16700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558555" y="3790801"/>
            <a:ext cx="199571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 NULL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349776" y="3790801"/>
            <a:ext cx="362656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Saves the tax amount.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5004" y="4152379"/>
            <a:ext cx="167245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service_charge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092970" y="4152379"/>
            <a:ext cx="16700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558555" y="4152379"/>
            <a:ext cx="199571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 NULL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349776" y="4152379"/>
            <a:ext cx="362656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Saves the service fee.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5004" y="4513957"/>
            <a:ext cx="167245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grand_total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092970" y="4513957"/>
            <a:ext cx="16700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558555" y="4513957"/>
            <a:ext cx="199571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 NULL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349776" y="4513957"/>
            <a:ext cx="362656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Saves the final amount due.</a:t>
            </a:r>
            <a:endParaRPr lang="en-US" sz="950" dirty="0"/>
          </a:p>
        </p:txBody>
      </p:sp>
      <p:sp>
        <p:nvSpPr>
          <p:cNvPr id="42" name="Rectangle 41"/>
          <p:cNvSpPr/>
          <p:nvPr/>
        </p:nvSpPr>
        <p:spPr>
          <a:xfrm>
            <a:off x="7747819" y="4871885"/>
            <a:ext cx="1396181" cy="226142"/>
          </a:xfrm>
          <a:prstGeom prst="rect">
            <a:avLst/>
          </a:prstGeom>
          <a:solidFill>
            <a:srgbClr val="FFFC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19165" y="395030"/>
            <a:ext cx="1959322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sz="2400" b="1" dirty="0"/>
              <a:t>Code Setup</a:t>
            </a:r>
          </a:p>
        </p:txBody>
      </p:sp>
      <p:sp>
        <p:nvSpPr>
          <p:cNvPr id="4" name="Text 1"/>
          <p:cNvSpPr/>
          <p:nvPr/>
        </p:nvSpPr>
        <p:spPr>
          <a:xfrm>
            <a:off x="3925119" y="714375"/>
            <a:ext cx="3461445" cy="375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sz="2400" b="1"/>
              <a:t>Main Program File</a:t>
            </a:r>
          </a:p>
        </p:txBody>
      </p:sp>
      <p:sp>
        <p:nvSpPr>
          <p:cNvPr id="5" name="Text 2"/>
          <p:cNvSpPr/>
          <p:nvPr/>
        </p:nvSpPr>
        <p:spPr>
          <a:xfrm>
            <a:off x="3925119" y="1264444"/>
            <a:ext cx="4722763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main.py file sets up the app, connects to the database, and handles the main screen. It also keeps track of prices, taxes, and service fees.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925119" y="1773808"/>
            <a:ext cx="4722763" cy="2889498"/>
          </a:xfrm>
          <a:prstGeom prst="roundRect">
            <a:avLst>
              <a:gd name="adj" fmla="val 1747"/>
            </a:avLst>
          </a:prstGeom>
          <a:solidFill>
            <a:srgbClr val="F2EF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3919165" y="1773808"/>
            <a:ext cx="4734669" cy="2889498"/>
          </a:xfrm>
          <a:prstGeom prst="roundRect">
            <a:avLst>
              <a:gd name="adj" fmla="val 624"/>
            </a:avLst>
          </a:prstGeom>
          <a:solidFill>
            <a:srgbClr val="F2EF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4069333" y="1893912"/>
            <a:ext cx="4434334" cy="26492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sys, os, sqlite3</a:t>
            </a:r>
            <a:endParaRPr lang="en-US" sz="90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PyQt5 import uic</a:t>
            </a:r>
            <a:endParaRPr lang="en-US" sz="90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PyQt5.QtWidgets import QApplication, QMainWindow, QAbstractSpinBox</a:t>
            </a:r>
            <a:endParaRPr lang="en-US" sz="90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PyQt5.QtCore import QTimer, Qt</a:t>
            </a:r>
            <a:endParaRPr lang="en-US" sz="900" dirty="0"/>
          </a:p>
          <a:p>
            <a:pPr marL="0" indent="0" algn="l">
              <a:lnSpc>
                <a:spcPct val="131000"/>
              </a:lnSpc>
              <a:buNone/>
            </a:pPr>
            <a:endParaRPr lang="en-US" sz="90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PRICES = {"Coffee": 250, "Tea": 150, "Burger": 500,</a:t>
            </a:r>
            <a:endParaRPr lang="en-US" sz="90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"Sandwhich": 250, "Fries": 300, "Pizza": 1200}</a:t>
            </a:r>
            <a:endParaRPr lang="en-US" sz="90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TAX_RATE, SERVICE_RATE = 0.05, 0.10</a:t>
            </a:r>
            <a:endParaRPr lang="en-US" sz="900" dirty="0"/>
          </a:p>
          <a:p>
            <a:pPr marL="0" indent="0" algn="l">
              <a:lnSpc>
                <a:spcPct val="131000"/>
              </a:lnSpc>
              <a:buNone/>
            </a:pPr>
            <a:endParaRPr lang="en-US" sz="90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 BrewHaven(QMainWindow):</a:t>
            </a:r>
            <a:endParaRPr lang="en-US" sz="90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def __init__(self):</a:t>
            </a:r>
            <a:endParaRPr lang="en-US" sz="90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super().__init__()</a:t>
            </a:r>
            <a:endParaRPr lang="en-US" sz="90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uic.loadUi("cafe management.ui", self)</a:t>
            </a:r>
            <a:endParaRPr lang="en-US" sz="90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# Connect buttons and other actions here...</a:t>
            </a:r>
            <a:endParaRPr lang="en-US" sz="900" dirty="0"/>
          </a:p>
        </p:txBody>
      </p:sp>
      <p:sp>
        <p:nvSpPr>
          <p:cNvPr id="9" name="Rectangle 8"/>
          <p:cNvSpPr/>
          <p:nvPr/>
        </p:nvSpPr>
        <p:spPr>
          <a:xfrm>
            <a:off x="7747819" y="4862053"/>
            <a:ext cx="1396181" cy="226142"/>
          </a:xfrm>
          <a:prstGeom prst="rect">
            <a:avLst/>
          </a:prstGeom>
          <a:solidFill>
            <a:srgbClr val="FFFC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71903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sz="2400" b="1" dirty="0"/>
              <a:t>Testing</a:t>
            </a:r>
          </a:p>
        </p:txBody>
      </p:sp>
      <p:sp>
        <p:nvSpPr>
          <p:cNvPr id="3" name="Text 1"/>
          <p:cNvSpPr/>
          <p:nvPr/>
        </p:nvSpPr>
        <p:spPr>
          <a:xfrm>
            <a:off x="496119" y="1466374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sz="2400" b="1" dirty="0"/>
              <a:t>Test Results</a:t>
            </a:r>
          </a:p>
        </p:txBody>
      </p:sp>
      <p:sp>
        <p:nvSpPr>
          <p:cNvPr id="4" name="Text 2"/>
          <p:cNvSpPr/>
          <p:nvPr/>
        </p:nvSpPr>
        <p:spPr>
          <a:xfrm>
            <a:off x="496119" y="2141934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ran a set of tests to make sure the system gave correct results in real use.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1831" y="2479923"/>
            <a:ext cx="2648843" cy="13386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7242" y="261818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Zero Input Check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77242" y="2886447"/>
            <a:ext cx="231517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system stops you from moving forward when nothing is entered. It also warns the user and keeps the cursor in place.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40360" y="2479923"/>
            <a:ext cx="2648917" cy="13386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35772" y="261818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 Pizza Test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435772" y="2886447"/>
            <a:ext cx="231524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Subtotal: Rs. 1200, Tax (5%): Rs. 60, Grand Total: Rs. 1380. The system updates the receipt and saves the log correctly.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98964" y="2479923"/>
            <a:ext cx="2648843" cy="133863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4375" y="261818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Live Update Test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194375" y="2886447"/>
            <a:ext cx="231517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When values change, the screen updates right away. The system responds quickly with no delay.</a:t>
            </a:r>
            <a:endParaRPr lang="en-US" sz="950" dirty="0"/>
          </a:p>
        </p:txBody>
      </p:sp>
      <p:sp>
        <p:nvSpPr>
          <p:cNvPr id="14" name="Rectangle 13"/>
          <p:cNvSpPr/>
          <p:nvPr/>
        </p:nvSpPr>
        <p:spPr>
          <a:xfrm>
            <a:off x="7747819" y="4842389"/>
            <a:ext cx="1396181" cy="226142"/>
          </a:xfrm>
          <a:prstGeom prst="rect">
            <a:avLst/>
          </a:prstGeom>
          <a:solidFill>
            <a:srgbClr val="FFFC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11174"/>
            <a:ext cx="1927994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sz="2400" b="1" dirty="0"/>
              <a:t>Results and Future Work</a:t>
            </a:r>
          </a:p>
        </p:txBody>
      </p:sp>
      <p:sp>
        <p:nvSpPr>
          <p:cNvPr id="4" name="Text 1"/>
          <p:cNvSpPr/>
          <p:nvPr/>
        </p:nvSpPr>
        <p:spPr>
          <a:xfrm>
            <a:off x="3925119" y="463861"/>
            <a:ext cx="3602906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sz="2400" b="1" dirty="0"/>
              <a:t>Simple Working Desktop App</a:t>
            </a:r>
          </a:p>
        </p:txBody>
      </p:sp>
      <p:sp>
        <p:nvSpPr>
          <p:cNvPr id="5" name="Text 2"/>
          <p:cNvSpPr/>
          <p:nvPr/>
        </p:nvSpPr>
        <p:spPr>
          <a:xfrm>
            <a:off x="3925119" y="937840"/>
            <a:ext cx="4722763" cy="260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Brew Haven project meets the main goals of the programming lab. It shows a clean desktop app with custom screens, simple button logic, and saved data.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925119" y="1616471"/>
            <a:ext cx="4722763" cy="307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5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705029" y="2022325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UI States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925119" y="2209477"/>
            <a:ext cx="4722763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Five screen views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925119" y="2525736"/>
            <a:ext cx="4722763" cy="307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6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705029" y="2931591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Menu Items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925119" y="3118742"/>
            <a:ext cx="4722763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Six price items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925119" y="3435002"/>
            <a:ext cx="4722763" cy="307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7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705029" y="3840856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DB Fields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925119" y="4028007"/>
            <a:ext cx="4722763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Seven saved fields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925119" y="4344267"/>
            <a:ext cx="4722763" cy="307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5705028" y="4692003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Test Scenarios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925080" y="4910011"/>
            <a:ext cx="4722763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Three checks passed</a:t>
            </a:r>
            <a:endParaRPr lang="en-US" sz="900" dirty="0"/>
          </a:p>
        </p:txBody>
      </p:sp>
      <p:sp>
        <p:nvSpPr>
          <p:cNvPr id="18" name="Rectangle 17"/>
          <p:cNvSpPr/>
          <p:nvPr/>
        </p:nvSpPr>
        <p:spPr>
          <a:xfrm>
            <a:off x="7747819" y="4862053"/>
            <a:ext cx="1396181" cy="226142"/>
          </a:xfrm>
          <a:prstGeom prst="rect">
            <a:avLst/>
          </a:prstGeom>
          <a:solidFill>
            <a:srgbClr val="FFFC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894</Words>
  <Application>Microsoft Office PowerPoint</Application>
  <PresentationFormat>On-screen Show (16:9)</PresentationFormat>
  <Paragraphs>151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Crimson Pro Bold</vt:lpstr>
      <vt:lpstr>Consolas</vt:lpstr>
      <vt:lpstr>Arial</vt:lpstr>
      <vt:lpstr>Open Sans</vt:lpstr>
      <vt:lpstr>Open Sans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XEE</cp:lastModifiedBy>
  <cp:revision>5</cp:revision>
  <dcterms:created xsi:type="dcterms:W3CDTF">2026-06-23T14:27:17Z</dcterms:created>
  <dcterms:modified xsi:type="dcterms:W3CDTF">2026-06-23T15:14:32Z</dcterms:modified>
</cp:coreProperties>
</file>